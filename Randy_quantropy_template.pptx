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86"/>
    <p:restoredTop sz="94662"/>
  </p:normalViewPr>
  <p:slideViewPr>
    <p:cSldViewPr snapToGrid="0" snapToObjects="1">
      <p:cViewPr varScale="1">
        <p:scale>
          <a:sx n="71" d="100"/>
          <a:sy n="71" d="100"/>
        </p:scale>
        <p:origin x="192" y="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2286000" cy="2286000"/>
          </a:xfrm>
          <a:prstGeom prst="ellipse">
            <a:avLst/>
          </a:prstGeom>
          <a:solidFill>
            <a:srgbClr val="E8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1097280"/>
            <a:ext cx="1645920" cy="1645920"/>
          </a:xfrm>
          <a:prstGeom prst="ellipse">
            <a:avLst/>
          </a:prstGeom>
          <a:solidFill>
            <a:srgbClr val="D5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20240"/>
            <a:ext cx="1371600" cy="508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01743"/>
                </a:solidFill>
                <a:latin typeface="Source Sans Pro"/>
              </a:defRPr>
            </a:pPr>
            <a:r>
              <a:rPr lang="en-US" dirty="0"/>
              <a:t>What </a:t>
            </a:r>
            <a:r>
              <a:rPr lang="en-US" dirty="0" err="1"/>
              <a:t>Quantropi</a:t>
            </a:r>
            <a:r>
              <a:rPr lang="en-US" dirty="0"/>
              <a:t> Wants?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6B708D"/>
                </a:solidFill>
                <a:latin typeface="Source Sans Pro"/>
              </a:defRPr>
            </a:pPr>
            <a:r>
              <a:rPr lang="en-US" dirty="0"/>
              <a:t>Skills that help you ace a career in quantum industry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097280" y="48463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983480"/>
            <a:ext cx="3657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>
                <a:solidFill>
                  <a:srgbClr val="101743"/>
                </a:solidFill>
                <a:latin typeface="Source Sans Pro"/>
              </a:defRPr>
            </a:pPr>
            <a:r>
              <a:rPr lang="en-US" dirty="0"/>
              <a:t>Dr. Randy Kuang</a:t>
            </a:r>
            <a:endParaRPr dirty="0"/>
          </a:p>
          <a:p>
            <a:pPr algn="l">
              <a:spcAft>
                <a:spcPts val="200"/>
              </a:spcAft>
              <a:defRPr sz="1200" b="0">
                <a:solidFill>
                  <a:srgbClr val="6B708D"/>
                </a:solidFill>
                <a:latin typeface="Source Sans Pro"/>
              </a:defRPr>
            </a:pPr>
            <a:r>
              <a:rPr lang="en-US" dirty="0"/>
              <a:t>Co-founder and Chief Scientist</a:t>
            </a:r>
            <a:r>
              <a:rPr dirty="0"/>
              <a:t>  |  </a:t>
            </a:r>
            <a:r>
              <a:rPr dirty="0" err="1"/>
              <a:t>Quantropi</a:t>
            </a:r>
            <a:r>
              <a:rPr dirty="0"/>
              <a:t> Inc.</a:t>
            </a:r>
          </a:p>
          <a:p>
            <a:pPr algn="l">
              <a:defRPr sz="1200" b="0">
                <a:solidFill>
                  <a:srgbClr val="6B708D"/>
                </a:solidFill>
                <a:latin typeface="Source Sans Pro"/>
              </a:defRPr>
            </a:pPr>
            <a:r>
              <a:rPr lang="en-US" dirty="0"/>
              <a:t>14/04/2026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91695" cy="762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01743"/>
                </a:solidFill>
                <a:latin typeface="Source Sans Pro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Source Sans Pr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1743"/>
                </a:solidFill>
                <a:latin typeface="Source Sans Pro"/>
              </a:defRPr>
            </a:pPr>
            <a:r>
              <a:rPr lang="en-US" dirty="0"/>
              <a:t>What </a:t>
            </a:r>
            <a:r>
              <a:rPr lang="en-US" dirty="0" err="1"/>
              <a:t>Quantropi</a:t>
            </a:r>
            <a:r>
              <a:rPr lang="en-US" dirty="0"/>
              <a:t> Is?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554480" y="221284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rPr dirty="0"/>
              <a:t>Brief description of the </a:t>
            </a:r>
            <a:r>
              <a:rPr lang="en-US" dirty="0" err="1"/>
              <a:t>Quantropi’s</a:t>
            </a:r>
            <a:r>
              <a:rPr lang="en-US" dirty="0"/>
              <a:t> Mission and team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1554480" y="2593340"/>
            <a:ext cx="914400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Source Sans Pr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889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1743"/>
                </a:solidFill>
                <a:latin typeface="Source Sans Pro"/>
              </a:defRPr>
            </a:pPr>
            <a:r>
              <a:rPr lang="en-US" dirty="0"/>
              <a:t>What </a:t>
            </a:r>
            <a:r>
              <a:rPr lang="en-US" dirty="0" err="1"/>
              <a:t>Quantropi</a:t>
            </a:r>
            <a:r>
              <a:rPr lang="en-US" dirty="0"/>
              <a:t> have?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554480" y="312724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rPr dirty="0"/>
              <a:t>Brief description of the </a:t>
            </a:r>
            <a:r>
              <a:rPr lang="en-US" dirty="0"/>
              <a:t>product and solutions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554480" y="3507740"/>
            <a:ext cx="914400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Source Sans Pr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03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1743"/>
                </a:solidFill>
                <a:latin typeface="Source Sans Pro"/>
              </a:defRPr>
            </a:pPr>
            <a:r>
              <a:rPr lang="en-US" dirty="0"/>
              <a:t>Current Projects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554480" y="404164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t>Brief description of the third agenda item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422140"/>
            <a:ext cx="914400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Source Sans Pro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177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1743"/>
                </a:solidFill>
                <a:latin typeface="Source Sans Pro"/>
              </a:defRPr>
            </a:pPr>
            <a:r>
              <a:rPr lang="en-US" dirty="0"/>
              <a:t>Upcoming Projects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554480" y="495604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t>Brief description of the fourth agenda item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5336540"/>
            <a:ext cx="914400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60" y="5577840"/>
            <a:ext cx="502920" cy="502920"/>
          </a:xfrm>
          <a:prstGeom prst="ellipse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Source Sans Pro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5321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1743"/>
                </a:solidFill>
                <a:latin typeface="Source Sans Pro"/>
              </a:defRPr>
            </a:pPr>
            <a:r>
              <a:rPr lang="en-US" dirty="0"/>
              <a:t>What kind of workforce </a:t>
            </a:r>
            <a:r>
              <a:rPr lang="en-US" dirty="0" err="1"/>
              <a:t>Quantropi</a:t>
            </a:r>
            <a:r>
              <a:rPr lang="en-US" dirty="0"/>
              <a:t> Wants?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554480" y="587044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t>Brief description of the fifth agenda item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C7AADC"/>
                </a:solidFill>
                <a:latin typeface="Source Sans Pro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017520"/>
            <a:ext cx="1828800" cy="508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Source Sans Pro"/>
              </a:defRPr>
            </a:pPr>
            <a:r>
              <a:t>Section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8B90B0"/>
                </a:solidFill>
                <a:latin typeface="Source Sans Pro"/>
              </a:defRPr>
            </a:pPr>
            <a:r>
              <a:t>Brief description of what this section covers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01743"/>
                </a:solidFill>
                <a:latin typeface="Source Sans Pro"/>
              </a:defRPr>
            </a:pPr>
            <a:r>
              <a:t>Content 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  <a:defRPr sz="1800" b="0">
                <a:solidFill>
                  <a:srgbClr val="101743"/>
                </a:solidFill>
                <a:latin typeface="Source Sans Pro"/>
              </a:defRPr>
            </a:pPr>
            <a:r>
              <a:t>Key point or paragraph text goes here. Use this slide for detailed content,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101743"/>
                </a:solidFill>
                <a:latin typeface="Source Sans Pro"/>
              </a:defRPr>
            </a:pPr>
            <a:r>
              <a:t>explanations, or narrative storytelling. Keep text concise and impactful.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6B708D"/>
                </a:solidFill>
                <a:latin typeface="Source Sans Pro"/>
              </a:defRPr>
            </a:pPr>
            <a:r>
              <a:t>•  First supporting detail or bullet point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6B708D"/>
                </a:solidFill>
                <a:latin typeface="Source Sans Pro"/>
              </a:defRPr>
            </a:pPr>
            <a:r>
              <a:t>•  Second supporting detail or bullet point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6B708D"/>
                </a:solidFill>
                <a:latin typeface="Source Sans Pro"/>
              </a:defRPr>
            </a:pPr>
            <a:r>
              <a:t>•  Third supporting detail or bullet point</a:t>
            </a:r>
          </a:p>
          <a:p>
            <a:pPr algn="l">
              <a:defRPr sz="1600" b="0">
                <a:solidFill>
                  <a:srgbClr val="6B708D"/>
                </a:solidFill>
                <a:latin typeface="Source Sans Pro"/>
              </a:defRPr>
            </a:pPr>
            <a:r>
              <a:t>•  Fourth supporting detail or bullet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01743"/>
                </a:solidFill>
                <a:latin typeface="Source Sans Pro"/>
              </a:defRPr>
            </a:pPr>
            <a:r>
              <a:t>Two-Column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01743"/>
                </a:solidFill>
                <a:latin typeface="Source Sans Pro"/>
              </a:defRPr>
            </a:pPr>
            <a:r>
              <a:t>Left Column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331720"/>
            <a:ext cx="914400" cy="381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3891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Point one for the left column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Point two for the left column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Point three for the left column</a:t>
            </a:r>
          </a:p>
          <a:p>
            <a:pPr algn="l"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Add your content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01743"/>
                </a:solidFill>
                <a:latin typeface="Source Sans Pro"/>
              </a:defRPr>
            </a:pPr>
            <a:r>
              <a:t>Right Column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331720"/>
            <a:ext cx="9144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3891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Point one for the right column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Point two for the right column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Point three for the right column</a:t>
            </a:r>
          </a:p>
          <a:p>
            <a:pPr algn="l"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Add your content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01743"/>
                </a:solidFill>
                <a:latin typeface="Source Sans Pro"/>
              </a:defRPr>
            </a:pPr>
            <a:r>
              <a:t>Key Features /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3200400" cy="13716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101743"/>
                </a:solidFill>
                <a:latin typeface="Source Sans Pro"/>
              </a:defRPr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01743"/>
                </a:solidFill>
                <a:latin typeface="Source Sans Pro"/>
              </a:defRPr>
            </a:pPr>
            <a:r>
              <a:t>Feature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24688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08D"/>
                </a:solidFill>
                <a:latin typeface="Source Sans Pro"/>
              </a:defRPr>
            </a:pPr>
            <a:r>
              <a:t>Description of this feature and why it matters to your audience.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554480"/>
            <a:ext cx="3200400" cy="13716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101743"/>
                </a:solidFill>
                <a:latin typeface="Source Sans Pro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432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01743"/>
                </a:solidFill>
                <a:latin typeface="Source Sans Pro"/>
              </a:defRPr>
            </a:pPr>
            <a:r>
              <a:t>Feature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91840"/>
            <a:ext cx="24688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08D"/>
                </a:solidFill>
                <a:latin typeface="Source Sans Pro"/>
              </a:defRPr>
            </a:pPr>
            <a:r>
              <a:t>Description of this feature and why it matters to your audience.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200400" cy="137160"/>
          </a:xfrm>
          <a:prstGeom prst="rect">
            <a:avLst/>
          </a:prstGeom>
          <a:solidFill>
            <a:srgbClr val="9CC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101743"/>
                </a:solidFill>
                <a:latin typeface="Source Sans Pro"/>
              </a:defRPr>
            </a:pPr>
            <a: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01743"/>
                </a:solidFill>
                <a:latin typeface="Source Sans Pro"/>
              </a:defRPr>
            </a:pPr>
            <a:r>
              <a:t>Feature Three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4688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08D"/>
                </a:solidFill>
                <a:latin typeface="Source Sans Pro"/>
              </a:defRPr>
            </a:pPr>
            <a:r>
              <a:t>Description of this feature and why it matters to your audience.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01743"/>
                </a:solidFill>
                <a:latin typeface="Source Sans Pro"/>
              </a:defRPr>
            </a:pPr>
            <a:r>
              <a:t>Key Metrics &amp;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63040" y="2286000"/>
            <a:ext cx="914400" cy="381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01743"/>
                </a:solidFill>
                <a:latin typeface="Source Sans Pro"/>
              </a:defRPr>
            </a:pPr>
            <a:r>
              <a:t>99.9%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B708D"/>
                </a:solidFill>
                <a:latin typeface="Source Sans Pro"/>
              </a:defRPr>
            </a:pPr>
            <a:r>
              <a:t>Uptime SLA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2286000"/>
            <a:ext cx="9144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01743"/>
                </a:solidFill>
                <a:latin typeface="Source Sans Pro"/>
              </a:defRPr>
            </a:pPr>
            <a:r>
              <a:t>256-bit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B708D"/>
                </a:solidFill>
                <a:latin typeface="Source Sans Pro"/>
              </a:defRPr>
            </a:pPr>
            <a:r>
              <a:t>Encryption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66560" y="2286000"/>
            <a:ext cx="914400" cy="381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256032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01743"/>
                </a:solidFill>
                <a:latin typeface="Source Sans Pro"/>
              </a:defRPr>
            </a:pPr>
            <a:r>
              <a:t>10M+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383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B708D"/>
                </a:solidFill>
                <a:latin typeface="Source Sans Pro"/>
              </a:defRPr>
            </a:pPr>
            <a:r>
              <a:t>Keys Generated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82880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18320" y="2286000"/>
            <a:ext cx="9144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256032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01743"/>
                </a:solidFill>
                <a:latin typeface="Source Sans Pro"/>
              </a:defRPr>
            </a:pPr>
            <a:r>
              <a:t>&lt;1ms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83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B708D"/>
                </a:solidFill>
                <a:latin typeface="Source Sans Pro"/>
              </a:defRPr>
            </a:pPr>
            <a:r>
              <a:t>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0" b="1">
                <a:solidFill>
                  <a:srgbClr val="E8DDF0"/>
                </a:solidFill>
                <a:latin typeface="Source Sans Pro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686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101743"/>
                </a:solidFill>
                <a:latin typeface="Source Sans Pro"/>
              </a:defRPr>
            </a:pPr>
            <a:r>
              <a:t>Insert an impactful quote, customer testimonial, or key message that reinforces your presentation narrative.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47548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50292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B708D"/>
                </a:solidFill>
                <a:latin typeface="Source Sans Pro"/>
              </a:defRPr>
            </a:pPr>
            <a:r>
              <a:t>— Attribution or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01743"/>
                </a:solidFill>
                <a:latin typeface="Source Sans Pro"/>
              </a:defRPr>
            </a:pPr>
            <a: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FC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548640"/>
          </a:xfrm>
          <a:prstGeom prst="rect">
            <a:avLst/>
          </a:prstGeom>
          <a:solidFill>
            <a:srgbClr val="E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4040"/>
                </a:solidFill>
                <a:latin typeface="Source Sans Pro"/>
              </a:defRPr>
            </a:pPr>
            <a:r>
              <a:t>Without Quantropi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✕  Vulnerability to quantum attacks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✕  Complex key management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✕  High latency overhead</a:t>
            </a:r>
          </a:p>
          <a:p>
            <a:pPr algn="l"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✕  Limited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E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120640" cy="548640"/>
          </a:xfrm>
          <a:prstGeom prst="rect">
            <a:avLst/>
          </a:prstGeom>
          <a:solidFill>
            <a:srgbClr val="C0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07B30"/>
                </a:solidFill>
                <a:latin typeface="Source Sans Pro"/>
              </a:defRPr>
            </a:pPr>
            <a:r>
              <a:t>With Quantropi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3891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✓  Quantum-safe encryption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✓  Automated key lifecycle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✓  Sub-millisecond performance</a:t>
            </a:r>
          </a:p>
          <a:p>
            <a:pPr algn="l"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✓  Enterprise scale 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01743"/>
                </a:solidFill>
                <a:latin typeface="Source Sans Pro"/>
              </a:defRPr>
            </a:pPr>
            <a:r>
              <a:t>Roadmap /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0332720" cy="508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17320" y="3063240"/>
            <a:ext cx="502920" cy="502920"/>
          </a:xfrm>
          <a:prstGeom prst="ellipse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31089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ource Sans Pro"/>
              </a:defRPr>
            </a:pPr>
            <a: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1743"/>
                </a:solidFill>
                <a:latin typeface="Source Sans Pro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t>Discovery &amp;</a:t>
            </a:r>
            <a:br/>
            <a:r>
              <a:t>Assessment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3063240"/>
            <a:ext cx="502920" cy="502920"/>
          </a:xfrm>
          <a:prstGeom prst="ellipse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31089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ource Sans Pro"/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1743"/>
                </a:solidFill>
                <a:latin typeface="Source Sans Pro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4048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t>Design &amp;</a:t>
            </a:r>
            <a:br/>
            <a:r>
              <a:t>Planning</a:t>
            </a:r>
          </a:p>
        </p:txBody>
      </p:sp>
      <p:sp>
        <p:nvSpPr>
          <p:cNvPr id="15" name="Oval 14"/>
          <p:cNvSpPr/>
          <p:nvPr/>
        </p:nvSpPr>
        <p:spPr>
          <a:xfrm>
            <a:off x="6903720" y="3063240"/>
            <a:ext cx="502920" cy="502920"/>
          </a:xfrm>
          <a:prstGeom prst="ellipse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1089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ource Sans Pro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1743"/>
                </a:solidFill>
                <a:latin typeface="Source Sans Pro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t>Implementation</a:t>
            </a:r>
            <a:br/>
            <a:r>
              <a:t>&amp; Testing</a:t>
            </a:r>
          </a:p>
        </p:txBody>
      </p:sp>
      <p:sp>
        <p:nvSpPr>
          <p:cNvPr id="19" name="Oval 18"/>
          <p:cNvSpPr/>
          <p:nvPr/>
        </p:nvSpPr>
        <p:spPr>
          <a:xfrm>
            <a:off x="9646920" y="3063240"/>
            <a:ext cx="502920" cy="502920"/>
          </a:xfrm>
          <a:prstGeom prst="ellipse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31089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ource Sans Pro"/>
              </a:defRPr>
            </a:pPr>
            <a: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945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1743"/>
                </a:solidFill>
                <a:latin typeface="Source Sans Pro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84048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B708D"/>
                </a:solidFill>
                <a:latin typeface="Source Sans Pro"/>
              </a:defRPr>
            </a:pPr>
            <a:r>
              <a:t>Deployment &amp;</a:t>
            </a:r>
            <a:br/>
            <a:r>
              <a:t>Optimization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01743"/>
                </a:solidFill>
                <a:latin typeface="Source Sans Pro"/>
              </a:defRPr>
            </a:pPr>
            <a:r>
              <a:t>Image + Text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7BA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B708D"/>
                </a:solidFill>
                <a:latin typeface="Source Sans Pro"/>
              </a:defRPr>
            </a:pPr>
            <a:r>
              <a:t>[Insert Image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01743"/>
                </a:solidFill>
                <a:latin typeface="Source Sans Pro"/>
              </a:defRPr>
            </a:pPr>
            <a:r>
              <a:t>Visual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94560"/>
            <a:ext cx="914400" cy="381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  <a:defRPr sz="1600" b="0">
                <a:solidFill>
                  <a:srgbClr val="6B708D"/>
                </a:solidFill>
                <a:latin typeface="Source Sans Pro"/>
              </a:defRPr>
            </a:pPr>
            <a:r>
              <a:t>Use this layout when combining visual assets with descriptive content. The image area on the left supports photos, diagrams, screenshots, or charts.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Supporting detail one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Supporting detail two</a:t>
            </a:r>
          </a:p>
          <a:p>
            <a:pPr algn="l">
              <a:defRPr sz="1500" b="0">
                <a:solidFill>
                  <a:srgbClr val="6B708D"/>
                </a:solidFill>
                <a:latin typeface="Source Sans Pro"/>
              </a:defRPr>
            </a:pPr>
            <a:r>
              <a:t>•  Supporting detail three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698480" cy="254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Quantropi  |  Quantum Security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08D"/>
                </a:solidFill>
                <a:latin typeface="Source Sans Pr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C7AADC"/>
                </a:solidFill>
                <a:latin typeface="Source Sans Pro"/>
              </a:defRPr>
            </a:pPr>
            <a:r>
              <a:t>QUANTROPI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Source Sans Pro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291840"/>
            <a:ext cx="1371600" cy="50800"/>
          </a:xfrm>
          <a:prstGeom prst="rect">
            <a:avLst/>
          </a:prstGeom>
          <a:solidFill>
            <a:srgbClr val="C7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8B90B0"/>
                </a:solidFill>
                <a:latin typeface="Source Sans Pro"/>
              </a:defRPr>
            </a:pPr>
            <a:r>
              <a:t>Questions? Let's continue the 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38912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1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4526280"/>
            <a:ext cx="44805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ource Sans Pro"/>
              </a:defRPr>
            </a:pPr>
            <a:r>
              <a:t>Randy  |  Quantropi Inc.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B90B0"/>
                </a:solidFill>
                <a:latin typeface="Source Sans Pro"/>
              </a:defRPr>
            </a:pPr>
            <a:r>
              <a:t>📧  email@quantropi.com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B90B0"/>
                </a:solidFill>
                <a:latin typeface="Source Sans Pro"/>
              </a:defRPr>
            </a:pPr>
            <a:r>
              <a:t>🌐  www.quantropi.com</a:t>
            </a:r>
          </a:p>
          <a:p>
            <a:pPr algn="ctr">
              <a:defRPr sz="1300" b="0">
                <a:solidFill>
                  <a:srgbClr val="8B90B0"/>
                </a:solidFill>
                <a:latin typeface="Source Sans Pro"/>
              </a:defRPr>
            </a:pPr>
            <a:r>
              <a:t>📍  Ottawa, Canada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gradFill rotWithShape="1">
            <a:gsLst>
              <a:gs pos="0">
                <a:srgbClr val="C7AADC"/>
              </a:gs>
              <a:gs pos="100000">
                <a:srgbClr val="7BA4D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513</Words>
  <Application>Microsoft Macintosh PowerPoint</Application>
  <PresentationFormat>Widescreen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Shashank Gupta</cp:lastModifiedBy>
  <cp:revision>2</cp:revision>
  <dcterms:created xsi:type="dcterms:W3CDTF">2013-01-27T09:14:16Z</dcterms:created>
  <dcterms:modified xsi:type="dcterms:W3CDTF">2026-03-29T03:26:55Z</dcterms:modified>
  <cp:category/>
</cp:coreProperties>
</file>